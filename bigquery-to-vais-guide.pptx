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420978"/>
            <a:ext cx="358445" cy="35844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17320"/>
            <a:ext cx="36576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116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498" y="1420978"/>
            <a:ext cx="358445" cy="358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BigQuery → Vertex AI Search</a:t>
            </a:r>
            <a:endParaRPr lang="en-US" sz="3800" dirty="0"/>
          </a:p>
        </p:txBody>
      </p:sp>
      <p:sp>
        <p:nvSpPr>
          <p:cNvPr id="9" name="Text 4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データストア統合ガイド</a:t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 BigQuery 資産を AI 検索エンジンとして即活用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調査日: 2026-02-21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概要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64008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Search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（AI Applications の一部）は、BigQuery に蓄積された構造化データを直接インポートし、</a:t>
            </a:r>
            <a:pPr indent="0" marL="0">
              <a:buNone/>
            </a:pPr>
            <a:r>
              <a:rPr lang="en-US" sz="15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セマンティック検索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・ </a:t>
            </a:r>
            <a:pPr indent="0" marL="0">
              <a:buNone/>
            </a:pPr>
            <a:r>
              <a:rPr lang="en-US" sz="15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グラウンディング（RAG）</a:t>
            </a:r>
            <a:pPr indent="0" marL="0">
              <a:buNone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に活用できる仕組みです。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82" y="321960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既存資産の活用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追加の ETL なしに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データを直接利用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29260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82" y="321960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セマンティック検索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キーワードではなく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意味ベースで検索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9260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321960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RAG 統合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根拠のある AI 回答を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自動生成（ハルシネーション抑制）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アーキテクチャ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3段階パイプライン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645920" cy="914400"/>
          </a:xfrm>
          <a:prstGeom prst="rect">
            <a:avLst/>
          </a:prstGeom>
          <a:solidFill>
            <a:srgbClr val="0B3D5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24028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0" y="155448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4612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3246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6517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取り込み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インデックス化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5176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チャンキング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ベクトル埋め込み変換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4028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155448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32120" y="1371600"/>
            <a:ext cx="502920" cy="502920"/>
          </a:xfrm>
          <a:prstGeom prst="ellipse">
            <a:avLst/>
          </a:prstGeom>
          <a:solidFill>
            <a:srgbClr val="0A6B78"/>
          </a:solidFill>
          <a:ln/>
        </p:spPr>
      </p:sp>
      <p:sp>
        <p:nvSpPr>
          <p:cNvPr id="15" name="Text 11"/>
          <p:cNvSpPr/>
          <p:nvPr/>
        </p:nvSpPr>
        <p:spPr>
          <a:xfrm>
            <a:off x="5532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377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再ランキング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クエリをベクトル化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意味的類似度マッチング</a:t>
            </a:r>
            <a:endParaRPr lang="en-US" sz="10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4028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32320" y="155448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18120" y="1371600"/>
            <a:ext cx="502920" cy="502920"/>
          </a:xfrm>
          <a:prstGeom prst="ellipse">
            <a:avLst/>
          </a:prstGeom>
          <a:solidFill>
            <a:srgbClr val="0B3D51"/>
          </a:solidFill>
          <a:ln/>
        </p:spPr>
      </p:sp>
      <p:sp>
        <p:nvSpPr>
          <p:cNvPr id="21" name="Text 16"/>
          <p:cNvSpPr/>
          <p:nvPr/>
        </p:nvSpPr>
        <p:spPr>
          <a:xfrm>
            <a:off x="7818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2237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グラウンディング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22376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に渡して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根拠付き回答を生成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0B3D51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 BigQuery 資産を追加の ETL なしに、エンタープライズグレードの AI 検索エンジンとして活用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対応データストア種別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種別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 対応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構造化データ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対応（主要）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テーブル行・JSON レコードを検索対象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メディアデータ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動画・ニュース・ポッドキャスト等のメタデータ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非構造化データ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非対応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 経由のみ（PDF・HTML・DOCX等）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ウェブサイト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非対応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クロール方式のみ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FHIR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非対応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ストア経由のみ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3840480"/>
            <a:ext cx="64008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8404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</a:t>
            </a:r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からの取り込みは「構造化データ」と「メディアデータ」のみ。PDF 等の非構造化データは Cloud Storage 経由で取り込む必要があります。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主なメリット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6093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BQ 資産を即活用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 ETL 不要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28016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6093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自然言語検索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25196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意味ベースで検索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28016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6093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RAG 統合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8660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根拠のある AI 回答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29718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3009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定期自動同期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173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1日・3日・5日ごと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474720" y="29718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5760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330098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5196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スキーマ自動検出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2519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テーブル構造を自動推定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309360" y="29718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9224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30098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8660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スケーラビリティ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08660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ペタバイト規模に対応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取り込みモード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ワンタイム（One-Time）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手動で実行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単一テーブル対象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アクセス制御: 対応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0A6B7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定期（Periodic）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7830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自動（1・3・5日周期）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複数テーブル対象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アクセス制御: 非対応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調整（Reconciliation）モード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モード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D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D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（デフォルト）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新規追加 + 同 ID の既存ドキュメントを更新（Upsert）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3D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完全再ベース。BigQuery に存在しないドキュメントは自動削除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スキーマ &amp; フィールド設定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スキーマ設定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自動検出（Auto-detect）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インポート時にスキーマを自動推定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モード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新フィールドが自動追加される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モード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事前定義フィールドのみ受付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キープロパティマッピング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title・description・uri・category 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マッピングして検索品質を向上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フィールドレベル設定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プロパティ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retrievable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検索結果に表示（最大50）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フィルタ・ファセット・ブースト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テキスト検索対象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dynamicFacetable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動的ファセット利用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オートコンプリート候補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セットアップ手順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25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12984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3686" y="1388974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前提条件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有効化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権限設定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830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1887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11880" y="1325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361188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257800" y="12984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326" y="1388974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テーブル準備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列が必須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スキーマ設計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8308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11887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46520" y="1325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5"/>
          <p:cNvSpPr/>
          <p:nvPr/>
        </p:nvSpPr>
        <p:spPr>
          <a:xfrm>
            <a:off x="64465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092440" y="129844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2966" y="1388974"/>
            <a:ext cx="230429" cy="2304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465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データストア作成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465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構造化データ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スキーママッピング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31546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1"/>
          <p:cNvSpPr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2423160" y="32644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3686" y="3354934"/>
            <a:ext cx="230429" cy="23042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72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エンジン作成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772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検索エンドポイント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（必須！）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749040"/>
            <a:ext cx="182880" cy="18288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474720" y="31546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61188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27"/>
          <p:cNvSpPr/>
          <p:nvPr/>
        </p:nvSpPr>
        <p:spPr>
          <a:xfrm>
            <a:off x="36118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5257800" y="32644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8326" y="3354934"/>
            <a:ext cx="230429" cy="230429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6118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からインポート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361188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ワンタイム or 定期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INCREMENTAL</a:t>
            </a:r>
            <a:endParaRPr lang="en-US" sz="11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3749040"/>
            <a:ext cx="182880" cy="18288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6309360" y="315468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644652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33"/>
          <p:cNvSpPr/>
          <p:nvPr/>
        </p:nvSpPr>
        <p:spPr>
          <a:xfrm>
            <a:off x="64465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Shape 34"/>
          <p:cNvSpPr/>
          <p:nvPr/>
        </p:nvSpPr>
        <p:spPr>
          <a:xfrm>
            <a:off x="8092440" y="32644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2966" y="3354934"/>
            <a:ext cx="230429" cy="230429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4465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&amp; RAG</a:t>
            </a:r>
            <a:endParaRPr lang="en-US" sz="1400" dirty="0"/>
          </a:p>
        </p:txBody>
      </p:sp>
      <p:sp>
        <p:nvSpPr>
          <p:cNvPr id="48" name="Text 36"/>
          <p:cNvSpPr/>
          <p:nvPr/>
        </p:nvSpPr>
        <p:spPr>
          <a:xfrm>
            <a:off x="64465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検索アプリ接続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グラウンディング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データストアとエンジンの関係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solidFill>
            <a:srgbClr val="5A7A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JSONL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554480"/>
            <a:ext cx="274320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11887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926080" y="1188720"/>
            <a:ext cx="25603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ドキュメントの保存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インデックス管理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（図書館の書棚）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solidFill>
            <a:srgbClr val="0B3D51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093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検索サービスの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（図書館の司書）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solidFill>
            <a:srgbClr val="FFF5F3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743200"/>
            <a:ext cx="64008" cy="109728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" y="28346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重要: エンジンがない状態では検索結果が 0 件になります！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の VertexAiSearchTool は data_store_id を渡しますが、内部的には Engine の servingConfigs/default_config エンドポイントへ検索リクエストを投げます。エンジンが存在しない場合、エラーなく結果が 0 件になります。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4023360"/>
            <a:ext cx="64008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1005840" y="402336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</a:t>
            </a:r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データストア作成後、必ずエンジンを作成すること。コンソール UI では「アプリ作成」がエンジン作成に相当します。エンジン作成後約 60 秒で検索が有効化されます。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カラム命名とグラウンディング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取り込み時に retrieved_context に反映されるメタデータ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18288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カラム名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keyPropertyMapping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.uri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.title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searchable+indexable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question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question（カスタム）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38328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383280"/>
            <a:ext cx="64008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52044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解決策: BQ VIEW でカラム名を変換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`project.dataset.faq_for_vais` AS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 AS _id, question AS title, url AS uri, answer, copyright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`project.dataset.faq`;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keyPropertyMapping は設定後に変更不可。変更したい場合はデータストアを作り直す必要あり。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ユースケース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2710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3716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社内ナレッジベース検索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1234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社内ドキュメント・製品情報・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ポリシーを自然言語で検索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938528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0208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12140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984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カスタマーサポート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840480" y="1984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FAQ/サポート履歴を Gemini 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グラウンディングしたチャットボット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688336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2770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8712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7340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EC・商品検索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840480" y="27340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商品カタログを自然言語で検索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パーソナライズレコメンド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438144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6210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営業支援コパイロット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840480" y="34838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契約データ・製品情報を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リアルタイム検索して最適提案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4187952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" y="4270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7083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4233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メディア推薦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840480" y="4233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動画・ニュースのメタデータから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コンテンツ推薦エンジンを構築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フィルタ検証結果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フィルタ構文の違い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構文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例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 演算子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copyright: "厚生労働省"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エラー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copyright: ANY("厚生労働省")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正常動作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フィールドパスの違い（重要）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インポート方式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フィルタパス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copyright: ANY("値")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JSONL（GCS）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copyright: ANY("値")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0件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JSONL（GCS）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structData.copyright: ANY("値")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solidFill>
            <a:srgbClr val="FFF5F3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4160520"/>
            <a:ext cx="64008" cy="54864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5"/>
          <p:cNvSpPr/>
          <p:nvPr/>
        </p:nvSpPr>
        <p:spPr>
          <a:xfrm>
            <a:off x="100584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</a:t>
            </a:r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struct_data.copyright（スネークケース）はエラー。structData.copyright（キャメルケース）が正しいパスです。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制限事項・考慮事項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非構造化データ非対応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等は BQ 経由不可、Cloud Storage のみ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430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権限の非継承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の権限はデータストアに引き継がれない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574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定期取り込みの ACL 非対応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ではドキュメントレベル ACL 不可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0574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データストア数の上限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1アプリあたり最大 50 データストア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9718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制約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米国 or EU マルチリージョンのみ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スキーマ後方互換性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非互換な変更はインポート失敗を招く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8862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処理時間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データ規模により数分〜数時間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886200"/>
            <a:ext cx="54864" cy="7315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keyPropertyMapping 変更不可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変更にはデータストア再作成が必要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よくあるエラーと対処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Document Id ('_id') was not found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data_schema="custom" の場合、ID 列名は _id が必須。id では全件失敗。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... RENAME COLUMN id TO _id;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64008" cy="10515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'discoveryengine.dataStores.create' denied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79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discoveryengine.admin ロールが未付与。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roles/discoveryengine.admin を付与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66160"/>
            <a:ext cx="64008" cy="10515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Denied: bigquery.datasets.create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の書き込み権限がない。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</a:t>
            </a:r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roles/bigquery.dataEditor を付与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まとめ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の構造化データを追加 ETL なしで Vertex AI Search に取り込み可能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セマンティック検索 + Gemini RAG で根拠のある AI 回答を実現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カラム名は _id / title / uri にすることで grounding metadata を完全活用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データストア作成後、エンジン（＝アプリ）の作成を忘れずに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と BQ でフィルタのフィールドパスが異なる点に注意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実測: 22,794件の FAQ データを約 7 分で取り込み完了（FULL モード）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調査日: 2026-02-21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BigQuery → Vertex AI Search 統合ガイド</dc:title>
  <dc:subject>PptxGenJS Presentation</dc:subject>
  <dc:creator>Claude</dc:creator>
  <cp:lastModifiedBy>Claude</cp:lastModifiedBy>
  <cp:revision>1</cp:revision>
  <dcterms:created xsi:type="dcterms:W3CDTF">2026-02-22T01:59:15Z</dcterms:created>
  <dcterms:modified xsi:type="dcterms:W3CDTF">2026-02-22T01:59:15Z</dcterms:modified>
</cp:coreProperties>
</file>